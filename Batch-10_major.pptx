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9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2" r:id="rId17"/>
    <p:sldId id="283" r:id="rId18"/>
    <p:sldId id="284" r:id="rId19"/>
    <p:sldId id="271" r:id="rId20"/>
    <p:sldId id="273" r:id="rId21"/>
    <p:sldId id="274" r:id="rId22"/>
    <p:sldId id="278" r:id="rId23"/>
    <p:sldId id="277" r:id="rId24"/>
    <p:sldId id="275" r:id="rId25"/>
    <p:sldId id="276" r:id="rId26"/>
    <p:sldId id="281" r:id="rId27"/>
    <p:sldId id="280" r:id="rId28"/>
    <p:sldId id="272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7803-D11B-45A0-A31C-1C2BDAD5C0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8D0D-DBAF-4D4A-9C2B-0259210E4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278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7803-D11B-45A0-A31C-1C2BDAD5C0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8D0D-DBAF-4D4A-9C2B-0259210E4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96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7803-D11B-45A0-A31C-1C2BDAD5C0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8D0D-DBAF-4D4A-9C2B-0259210E4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726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7803-D11B-45A0-A31C-1C2BDAD5C0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8D0D-DBAF-4D4A-9C2B-0259210E4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055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7803-D11B-45A0-A31C-1C2BDAD5C0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8D0D-DBAF-4D4A-9C2B-0259210E4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156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7803-D11B-45A0-A31C-1C2BDAD5C0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8D0D-DBAF-4D4A-9C2B-0259210E4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85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7803-D11B-45A0-A31C-1C2BDAD5C0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8D0D-DBAF-4D4A-9C2B-0259210E4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9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7803-D11B-45A0-A31C-1C2BDAD5C0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8D0D-DBAF-4D4A-9C2B-0259210E4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875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7803-D11B-45A0-A31C-1C2BDAD5C0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8D0D-DBAF-4D4A-9C2B-0259210E4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235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7803-D11B-45A0-A31C-1C2BDAD5C0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8D0D-DBAF-4D4A-9C2B-0259210E4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35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7803-D11B-45A0-A31C-1C2BDAD5C0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8D0D-DBAF-4D4A-9C2B-0259210E4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26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37803-D11B-45A0-A31C-1C2BDAD5C0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D8D0D-DBAF-4D4A-9C2B-0259210E4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81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>
            <a:spLocks/>
          </p:cNvSpPr>
          <p:nvPr/>
        </p:nvSpPr>
        <p:spPr>
          <a:xfrm>
            <a:off x="737419" y="2739591"/>
            <a:ext cx="10844982" cy="93325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ubtitle 2"/>
          <p:cNvSpPr txBox="1">
            <a:spLocks/>
          </p:cNvSpPr>
          <p:nvPr/>
        </p:nvSpPr>
        <p:spPr>
          <a:xfrm>
            <a:off x="2019298" y="3869735"/>
            <a:ext cx="8153401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marL="0" indent="0" algn="ctr">
              <a:buNone/>
            </a:pPr>
            <a:r>
              <a:rPr lang="en-US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Lakshmi Varshitha Poppoppula(228W1A1250)</a:t>
            </a:r>
          </a:p>
          <a:p>
            <a:pPr marL="0" indent="0" algn="ctr">
              <a:buNone/>
            </a:pPr>
            <a:r>
              <a:rPr lang="en-US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Shanmukha</a:t>
            </a:r>
            <a:r>
              <a:rPr lang="en-US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Raghavendra</a:t>
            </a:r>
            <a:r>
              <a:rPr lang="en-US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(228W1A1256)</a:t>
            </a:r>
          </a:p>
          <a:p>
            <a:pPr algn="ctr"/>
            <a:endParaRPr lang="en-US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128" y="371385"/>
            <a:ext cx="1600199" cy="86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6" descr="Image result for vrse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6871" y="183468"/>
            <a:ext cx="1068572" cy="124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3352799" y="425022"/>
            <a:ext cx="5486400" cy="758857"/>
          </a:xfrm>
          <a:prstGeom prst="rect">
            <a:avLst/>
          </a:prstGeom>
          <a:noFill/>
        </p:spPr>
        <p:txBody>
          <a:bodyPr wrap="square" lIns="19998" tIns="9999" rIns="19998" bIns="9999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R Siddhartha Engineering College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67098" y="2964946"/>
            <a:ext cx="52578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 in Information Technology</a:t>
            </a:r>
          </a:p>
          <a:p>
            <a:pPr algn="ctr"/>
            <a:r>
              <a:rPr 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alt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AJOR</a:t>
            </a:r>
            <a:r>
              <a:rPr 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Review Presentation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09999" y="5622335"/>
            <a:ext cx="4572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Sandeep, Senior Assistant Professor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352799" y="1570904"/>
            <a:ext cx="6388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Smart Referral System</a:t>
            </a:r>
            <a:endParaRPr lang="en-IN" sz="3200" dirty="0"/>
          </a:p>
        </p:txBody>
      </p:sp>
      <p:sp>
        <p:nvSpPr>
          <p:cNvPr id="2" name="Rectangle 1"/>
          <p:cNvSpPr/>
          <p:nvPr/>
        </p:nvSpPr>
        <p:spPr>
          <a:xfrm>
            <a:off x="3111910" y="233826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</a:rPr>
              <a:t>Artificial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</a:rPr>
              <a:t>Intelligence &amp; Natural Language Processing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593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11270" y="1152691"/>
            <a:ext cx="6096000" cy="540147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Problem Statement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Outcomes of the project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I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</a:t>
            </a:r>
            <a:r>
              <a:rPr lang="en-I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specifications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algorithms involved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Complete Results obtained 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 Analysis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 and Future Work</a:t>
            </a:r>
            <a:endParaRPr lang="en-US" alt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43639" y="629471"/>
            <a:ext cx="17027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8085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838200" y="472123"/>
            <a:ext cx="10515600" cy="883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981710" y="1679892"/>
            <a:ext cx="10100945" cy="4705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students understand whether they are qualified for a job and identify missing skills through intelligent resume analysis.</a:t>
            </a:r>
          </a:p>
          <a:p>
            <a:pPr algn="just"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structured platform that connects juniors with senior students working in companies for referrals and guidance</a:t>
            </a: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traditional keyword-based search with smart, AI-driven job and referral matching.</a:t>
            </a:r>
          </a:p>
          <a:p>
            <a:pPr algn="just"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placement success rates by building a strong, technology-enabled alumni referral ecosystem within the college.</a:t>
            </a:r>
          </a:p>
        </p:txBody>
      </p:sp>
    </p:spTree>
    <p:extLst>
      <p:ext uri="{BB962C8B-B14F-4D97-AF65-F5344CB8AC3E}">
        <p14:creationId xmlns:p14="http://schemas.microsoft.com/office/powerpoint/2010/main" val="400853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838200" y="419208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763229" y="1952517"/>
            <a:ext cx="10665541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lack clarity about whether their resumes match specific job descriptions and often do not know the exact skills or experience they are missing</a:t>
            </a: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referral process within the college is unstructured, making it difficult for students to identify and connect with senior students working in relevant companies</a:t>
            </a: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job platforms rely on basic keyword matching and do not provide intelligent, personalized guidance or network-based referral support.</a:t>
            </a:r>
          </a:p>
        </p:txBody>
      </p:sp>
    </p:spTree>
    <p:extLst>
      <p:ext uri="{BB962C8B-B14F-4D97-AF65-F5344CB8AC3E}">
        <p14:creationId xmlns:p14="http://schemas.microsoft.com/office/powerpoint/2010/main" val="106225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651652" y="570612"/>
            <a:ext cx="3437164" cy="1061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697918" y="1686720"/>
            <a:ext cx="4721860" cy="46006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AI-driven platform that analyzes resumes, identifies skill gaps, and provides personalized job matching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structured referral system connecting junior students with senior students working in relevant roles, supported by semantic search and real-time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1390" y="774799"/>
            <a:ext cx="351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8925" y="1686720"/>
            <a:ext cx="4981422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receive clear guidance to improve their resumes and align their skills with job requirements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streamlined and intelligent referral ecosystem is established, improving placement success within the college network.</a:t>
            </a:r>
          </a:p>
        </p:txBody>
      </p:sp>
    </p:spTree>
    <p:extLst>
      <p:ext uri="{BB962C8B-B14F-4D97-AF65-F5344CB8AC3E}">
        <p14:creationId xmlns:p14="http://schemas.microsoft.com/office/powerpoint/2010/main" val="73929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513641" y="63260"/>
            <a:ext cx="5164718" cy="43132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7560097"/>
              </p:ext>
            </p:extLst>
          </p:nvPr>
        </p:nvGraphicFramePr>
        <p:xfrm>
          <a:off x="703580" y="1261110"/>
          <a:ext cx="10466070" cy="5039995"/>
        </p:xfrm>
        <a:graphic>
          <a:graphicData uri="http://schemas.openxmlformats.org/drawingml/2006/table">
            <a:tbl>
              <a:tblPr/>
              <a:tblGrid>
                <a:gridCol w="912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1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3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9595">
                <a:tc>
                  <a:txBody>
                    <a:bodyPr/>
                    <a:lstStyle/>
                    <a:p>
                      <a:pPr marL="32385" indent="0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Times New Roman" panose="02020603050405020304"/>
                        </a:rPr>
                        <a:t> S.No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sz="1400" dirty="0">
                          <a:latin typeface="Times New Roman" panose="02020603050405020304"/>
                          <a:ea typeface="Times New Roman" panose="02020603050405020304"/>
                        </a:rPr>
                        <a:t>Publication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sz="1400" dirty="0">
                          <a:latin typeface="Times New Roman" panose="02020603050405020304"/>
                          <a:ea typeface="Times New Roman" panose="02020603050405020304"/>
                        </a:rPr>
                        <a:t>Authors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sz="1400" dirty="0">
                          <a:latin typeface="Times New Roman" panose="02020603050405020304"/>
                          <a:ea typeface="Times New Roman" panose="02020603050405020304"/>
                        </a:rPr>
                        <a:t>Publication Details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sz="1400" dirty="0">
                          <a:latin typeface="Times New Roman" panose="02020603050405020304"/>
                          <a:ea typeface="Times New Roman" panose="02020603050405020304"/>
                        </a:rPr>
                        <a:t>Dataset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sz="1400" dirty="0">
                          <a:latin typeface="Times New Roman" panose="02020603050405020304"/>
                          <a:ea typeface="Times New Roman" panose="02020603050405020304"/>
                        </a:rPr>
                        <a:t>Remarks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6825">
                <a:tc>
                  <a:txBody>
                    <a:bodyPr/>
                    <a:lstStyle/>
                    <a:p>
                      <a:pPr marL="32385" indent="0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just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Towards Explainable Job Title Matching: Leveraging Semantic Textual Relatedness and Knowledge Graphs</a:t>
                      </a:r>
                      <a:endParaRPr lang="en-US" altLang="en-US" sz="14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Vadim </a:t>
                      </a:r>
                      <a:r>
                        <a:rPr lang="en-US" altLang="en-US" sz="1400" dirty="0" err="1" smtClean="0">
                          <a:latin typeface="Times New Roman" panose="02020603050405020304"/>
                          <a:ea typeface="Times New Roman" panose="02020603050405020304"/>
                        </a:rPr>
                        <a:t>Zadykian</a:t>
                      </a:r>
                      <a:r>
                        <a:rPr lang="en-US" alt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, Bruno Andrade, </a:t>
                      </a:r>
                      <a:r>
                        <a:rPr lang="en-US" altLang="en-US" sz="1400" dirty="0" err="1" smtClean="0">
                          <a:latin typeface="Times New Roman" panose="02020603050405020304"/>
                          <a:ea typeface="Times New Roman" panose="02020603050405020304"/>
                        </a:rPr>
                        <a:t>Haithem</a:t>
                      </a:r>
                      <a:r>
                        <a:rPr lang="en-US" alt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 </a:t>
                      </a:r>
                      <a:r>
                        <a:rPr lang="en-US" altLang="en-US" sz="1400" dirty="0" err="1" smtClean="0">
                          <a:latin typeface="Times New Roman" panose="02020603050405020304"/>
                          <a:ea typeface="Times New Roman" panose="02020603050405020304"/>
                        </a:rPr>
                        <a:t>Afli</a:t>
                      </a:r>
                      <a:endParaRPr lang="en-US" altLang="en-US" sz="14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IEEE</a:t>
                      </a:r>
                      <a:r>
                        <a:rPr 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,</a:t>
                      </a:r>
                      <a:r>
                        <a:rPr lang="en-US" sz="1400" baseline="0" dirty="0" smtClean="0">
                          <a:latin typeface="Times New Roman" panose="02020603050405020304"/>
                          <a:ea typeface="Times New Roman" panose="02020603050405020304"/>
                        </a:rPr>
                        <a:t> 2025</a:t>
                      </a:r>
                      <a:endParaRPr sz="14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Evaluated on stratified semantic text relatedness benchmarks (segment-specific test sets)</a:t>
                      </a:r>
                      <a:endParaRPr lang="en-US" altLang="en-US" sz="14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dirty="0" smtClean="0"/>
                        <a:t>Combines dense </a:t>
                      </a:r>
                      <a:r>
                        <a:rPr lang="en-US" sz="1400" dirty="0" err="1" smtClean="0"/>
                        <a:t>embeddings</a:t>
                      </a:r>
                      <a:r>
                        <a:rPr lang="en-US" sz="1400" dirty="0" smtClean="0"/>
                        <a:t> with KG integration and stratified evaluation to improve job title relatedness and matching accuracy — relevant for semantic search and explainable referral/recruitment systems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32385" indent="0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KROMA: Ontology Matching with Knowledge Retrieval and Large Language Models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Lam Nguyen, Erika </a:t>
                      </a:r>
                      <a:r>
                        <a:rPr lang="en-US" altLang="en-US" sz="1400" dirty="0" err="1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Barcelos</a:t>
                      </a: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, Roger French, </a:t>
                      </a:r>
                      <a:r>
                        <a:rPr lang="en-US" altLang="en-US" sz="1400" dirty="0" err="1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Yinghui</a:t>
                      </a: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 Wu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>
                          <a:latin typeface="Times New Roman" panose="02020603050405020304"/>
                          <a:ea typeface="Times New Roman" panose="02020603050405020304"/>
                        </a:rPr>
                        <a:t>IEEE , 2025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Tested on standard ontology matching benchmarks from semantic web research.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Demonstrates RAG integration with structured semantic artifacts — applicable to domain modeling in job knowledge bases and structured resume ontologies.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9410">
                <a:tc>
                  <a:txBody>
                    <a:bodyPr/>
                    <a:lstStyle/>
                    <a:p>
                      <a:pPr marL="32385" indent="0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MSLEF: Multi-Segment LLM Ensemble </a:t>
                      </a:r>
                      <a:r>
                        <a:rPr lang="en-US" altLang="en-US" sz="1400" dirty="0" err="1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Finetuning</a:t>
                      </a: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 in Recruitment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sz="1400" dirty="0" smtClean="0"/>
                        <a:t>Omar </a:t>
                      </a:r>
                      <a:r>
                        <a:rPr lang="en-US" sz="1400" dirty="0" err="1" smtClean="0"/>
                        <a:t>Walid</a:t>
                      </a:r>
                      <a:r>
                        <a:rPr lang="en-US" sz="1400" dirty="0" smtClean="0"/>
                        <a:t>, Mohamed T. </a:t>
                      </a:r>
                      <a:r>
                        <a:rPr lang="en-US" sz="1400" dirty="0" err="1" smtClean="0"/>
                        <a:t>Younes</a:t>
                      </a:r>
                      <a:r>
                        <a:rPr lang="en-US" sz="1400" dirty="0" smtClean="0"/>
                        <a:t>, Khaled </a:t>
                      </a:r>
                      <a:r>
                        <a:rPr lang="en-US" sz="1400" dirty="0" err="1" smtClean="0"/>
                        <a:t>Shaban</a:t>
                      </a:r>
                      <a:r>
                        <a:rPr lang="en-US" sz="1400" dirty="0" smtClean="0"/>
                        <a:t> et al.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IN" altLang="en-US" sz="1400">
                          <a:latin typeface="Times New Roman" panose="02020603050405020304"/>
                          <a:ea typeface="Times New Roman" panose="02020603050405020304"/>
                        </a:rPr>
                        <a:t>IEEE</a:t>
                      </a:r>
                      <a:r>
                        <a:rPr lang="en-US" altLang="en-US" sz="1400">
                          <a:latin typeface="Times New Roman" panose="02020603050405020304"/>
                          <a:ea typeface="Times New Roman" panose="02020603050405020304"/>
                        </a:rPr>
                        <a:t>, 2025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Ensemble evaluations across resume parsing and recruitment similarity (RS) metrics on synthetic/varied resume corpora.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Focuses on segmented LLM training and ensemble weighting — valuable for robust resume field extraction before semantic analysis.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06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768417" y="-562"/>
            <a:ext cx="4550083" cy="5689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38650" y="6150469"/>
            <a:ext cx="286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Table 1: Literature Review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4469375"/>
              </p:ext>
            </p:extLst>
          </p:nvPr>
        </p:nvGraphicFramePr>
        <p:xfrm>
          <a:off x="407035" y="1069975"/>
          <a:ext cx="11240770" cy="4761230"/>
        </p:xfrm>
        <a:graphic>
          <a:graphicData uri="http://schemas.openxmlformats.org/drawingml/2006/table">
            <a:tbl>
              <a:tblPr/>
              <a:tblGrid>
                <a:gridCol w="98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11910">
                <a:tc>
                  <a:txBody>
                    <a:bodyPr/>
                    <a:lstStyle/>
                    <a:p>
                      <a:pPr marL="32385" indent="0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A Socratic RAG Approach to Connect Natural Language Queries with Knowledge Organization Systems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Lew </a:t>
                      </a:r>
                      <a:r>
                        <a:rPr lang="en-US" altLang="en-US" sz="1400" dirty="0" err="1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Lefton</a:t>
                      </a: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 et al.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>
                          <a:latin typeface="Times New Roman" panose="02020603050405020304"/>
                          <a:ea typeface="Times New Roman" panose="02020603050405020304"/>
                        </a:rPr>
                        <a:t>I</a:t>
                      </a:r>
                      <a:r>
                        <a:rPr lang="en-IN" altLang="en-US" sz="1400" dirty="0">
                          <a:latin typeface="Times New Roman" panose="02020603050405020304"/>
                          <a:ea typeface="Times New Roman" panose="02020603050405020304"/>
                        </a:rPr>
                        <a:t>EEE</a:t>
                      </a:r>
                      <a:r>
                        <a:rPr lang="en-US" altLang="en-US" sz="1400" dirty="0">
                          <a:latin typeface="Times New Roman" panose="02020603050405020304"/>
                          <a:ea typeface="Times New Roman" panose="02020603050405020304"/>
                        </a:rPr>
                        <a:t>, 2025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Uses academic KOS datasets and semantic structures like </a:t>
                      </a:r>
                      <a:r>
                        <a:rPr lang="en-US" altLang="en-US" sz="1400" dirty="0" err="1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CollabNext</a:t>
                      </a: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.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Highlights RAG contextualization and mapping to structured knowledge — relevant for aligning student queries to structured job graph representations.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6675">
                <a:tc>
                  <a:txBody>
                    <a:bodyPr/>
                    <a:lstStyle/>
                    <a:p>
                      <a:pPr marL="32385" indent="0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Times New Roman" panose="02020603050405020304"/>
                        </a:rPr>
                        <a:t>5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SimSun" panose="02010600030101010101" pitchFamily="2" charset="-122"/>
                        </a:rPr>
                        <a:t>Candidate Profile Summarization — A RAG Approach with Synthetic Data Generation for Tech Jobs</a:t>
                      </a:r>
                      <a:endParaRPr lang="en-US" altLang="en-US" sz="14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err="1" smtClean="0">
                          <a:latin typeface="Times New Roman" panose="02020603050405020304"/>
                          <a:ea typeface="Times New Roman" panose="02020603050405020304"/>
                        </a:rPr>
                        <a:t>Anum</a:t>
                      </a:r>
                      <a:r>
                        <a:rPr lang="en-US" alt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 Afzal, </a:t>
                      </a:r>
                      <a:r>
                        <a:rPr lang="en-US" altLang="en-US" sz="1400" dirty="0" err="1" smtClean="0">
                          <a:latin typeface="Times New Roman" panose="02020603050405020304"/>
                          <a:ea typeface="Times New Roman" panose="02020603050405020304"/>
                        </a:rPr>
                        <a:t>Ishwor</a:t>
                      </a:r>
                      <a:r>
                        <a:rPr lang="en-US" alt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 </a:t>
                      </a:r>
                      <a:r>
                        <a:rPr lang="en-US" altLang="en-US" sz="1400" dirty="0" err="1" smtClean="0">
                          <a:latin typeface="Times New Roman" panose="02020603050405020304"/>
                          <a:ea typeface="Times New Roman" panose="02020603050405020304"/>
                        </a:rPr>
                        <a:t>Subedi</a:t>
                      </a:r>
                      <a:r>
                        <a:rPr lang="en-US" alt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, Florian </a:t>
                      </a:r>
                      <a:r>
                        <a:rPr lang="en-US" altLang="en-US" sz="1400" dirty="0" err="1" smtClean="0">
                          <a:latin typeface="Times New Roman" panose="02020603050405020304"/>
                          <a:ea typeface="Times New Roman" panose="02020603050405020304"/>
                        </a:rPr>
                        <a:t>Matthes</a:t>
                      </a:r>
                      <a:endParaRPr lang="en-US" altLang="en-US" sz="14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Times New Roman" panose="02020603050405020304"/>
                          <a:ea typeface="Times New Roman" panose="02020603050405020304"/>
                        </a:rPr>
                        <a:t>I</a:t>
                      </a:r>
                      <a:r>
                        <a:rPr lang="en-IN" altLang="en-US" sz="1400">
                          <a:latin typeface="Times New Roman" panose="02020603050405020304"/>
                          <a:ea typeface="Times New Roman" panose="02020603050405020304"/>
                        </a:rPr>
                        <a:t>EEE</a:t>
                      </a:r>
                      <a:r>
                        <a:rPr lang="en-US" altLang="en-US" sz="1400">
                          <a:latin typeface="Times New Roman" panose="02020603050405020304"/>
                          <a:ea typeface="Times New Roman" panose="02020603050405020304"/>
                        </a:rPr>
                        <a:t>, 202</a:t>
                      </a:r>
                      <a:r>
                        <a:rPr lang="en-IN" altLang="en-US" sz="1400">
                          <a:latin typeface="Times New Roman" panose="02020603050405020304"/>
                          <a:ea typeface="Times New Roman" panose="02020603050405020304"/>
                        </a:rPr>
                        <a:t>5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Synthetic resume/job data designed to improve NLP model training robustness.</a:t>
                      </a:r>
                      <a:endParaRPr lang="en-US" altLang="en-US" sz="14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Addresses generation of realistic training data with RAG — useful when public resume datasets are limited.</a:t>
                      </a:r>
                      <a:endParaRPr lang="en-US" altLang="en-US" sz="14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2645">
                <a:tc>
                  <a:txBody>
                    <a:bodyPr/>
                    <a:lstStyle/>
                    <a:p>
                      <a:pPr marL="32385" indent="0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Times New Roman" panose="02020603050405020304"/>
                        </a:rPr>
                        <a:t>6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Research on the Construction and Application of Retrieval Enhanced Generation Model Based on Knowledge Graph</a:t>
                      </a:r>
                      <a:endParaRPr lang="en-US" altLang="en-US" sz="14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de-DE" alt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Sili Wang, Heng Yang, Wei Liu</a:t>
                      </a:r>
                      <a:endParaRPr lang="en-US" altLang="en-US" sz="14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IN" altLang="en-US" sz="1400">
                          <a:latin typeface="Times New Roman" panose="02020603050405020304"/>
                          <a:ea typeface="Times New Roman" panose="02020603050405020304"/>
                        </a:rPr>
                        <a:t>IEEE</a:t>
                      </a:r>
                      <a:r>
                        <a:rPr lang="en-US" altLang="en-US" sz="1400">
                          <a:latin typeface="Times New Roman" panose="02020603050405020304"/>
                          <a:ea typeface="Times New Roman" panose="02020603050405020304"/>
                        </a:rPr>
                        <a:t>, 202</a:t>
                      </a:r>
                      <a:r>
                        <a:rPr lang="en-IN" altLang="en-US" sz="1400">
                          <a:latin typeface="Times New Roman" panose="02020603050405020304"/>
                          <a:ea typeface="Times New Roman" panose="02020603050405020304"/>
                        </a:rPr>
                        <a:t>5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dirty="0">
                          <a:latin typeface="Times New Roman" panose="02020603050405020304"/>
                          <a:ea typeface="Times New Roman" panose="02020603050405020304"/>
                        </a:rPr>
                        <a:t>Educational and QA datasets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l">
                        <a:spcBef>
                          <a:spcPts val="2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en-US" sz="1400" dirty="0" smtClean="0">
                          <a:latin typeface="Times New Roman" panose="02020603050405020304"/>
                          <a:ea typeface="Times New Roman" panose="02020603050405020304"/>
                        </a:rPr>
                        <a:t>Shows effective integration of structured knowledge with RAG — useful for building graph-grounded resume/question QA systems.</a:t>
                      </a:r>
                      <a:endParaRPr lang="en-US" altLang="en-US" sz="14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31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2474" y="477985"/>
            <a:ext cx="62354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COMPARISION BETWEEN BASE PAPER AND PROJECT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55585" y="1288565"/>
            <a:ext cx="11111695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Research-oriented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(theoretical study), while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practical and implementation-based. 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nalyzes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and LLM techniques broadly, whereas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 them to a specific problem (placement and referrals).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covers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domains like enterprise systems, while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only on college students and alumni network. 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iscusses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methodologies, while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follows a clear step-by-step workflow (resume analysis, matching, referral system). 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 datasets (benchmarks, open-source, enterprise data), while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custom datasets (student, alumni, jobs). 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implement a system, while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builds a full working system using modern technologies. 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ives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insights and future directions, while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produces real outputs like skill gap analysis and job recommendations.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21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38200" y="365126"/>
            <a:ext cx="10515600" cy="68692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Datasets and Requirement</a:t>
            </a:r>
            <a:r>
              <a:rPr lang="en-I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specifications</a:t>
            </a:r>
            <a:endParaRPr lang="en-IN" sz="2800" b="1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052052"/>
            <a:ext cx="10515600" cy="56866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</a:p>
          <a:p>
            <a:pPr>
              <a:lnSpc>
                <a:spcPct val="100000"/>
              </a:lnSpc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 placement cell records</a:t>
            </a:r>
          </a:p>
          <a:p>
            <a:pPr>
              <a:lnSpc>
                <a:spcPct val="100000"/>
              </a:lnSpc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Senior student (alumni) registration data</a:t>
            </a:r>
          </a:p>
          <a:p>
            <a:pPr>
              <a:lnSpc>
                <a:spcPct val="100000"/>
              </a:lnSpc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job description portals (for role requirements)</a:t>
            </a:r>
          </a:p>
          <a:p>
            <a:pPr>
              <a:lnSpc>
                <a:spcPct val="100000"/>
              </a:lnSpc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resume uploads</a:t>
            </a:r>
          </a:p>
          <a:p>
            <a:pPr>
              <a:lnSpc>
                <a:spcPct val="100000"/>
              </a:lnSpc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referral activity logs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Primary Task:.</a:t>
            </a:r>
          </a:p>
          <a:p>
            <a:pPr>
              <a:lnSpc>
                <a:spcPct val="100000"/>
              </a:lnSpc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resume analysis and skill gap identification</a:t>
            </a:r>
          </a:p>
          <a:p>
            <a:pPr>
              <a:lnSpc>
                <a:spcPct val="100000"/>
              </a:lnSpc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job and role matching</a:t>
            </a:r>
          </a:p>
          <a:p>
            <a:pPr>
              <a:lnSpc>
                <a:spcPct val="100000"/>
              </a:lnSpc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Referral recommendation using knowledge graph</a:t>
            </a:r>
          </a:p>
          <a:p>
            <a:pPr>
              <a:lnSpc>
                <a:spcPct val="100000"/>
              </a:lnSpc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referral tracking and notification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Size:</a:t>
            </a:r>
          </a:p>
          <a:p>
            <a:pPr>
              <a:lnSpc>
                <a:spcPct val="100000"/>
              </a:lnSpc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~200 student profiles implemented initially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60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4608" y="53186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~100 senior student (alumni) profiles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~150 job descriptions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~1000+ skill relationships in knowledge graph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4608" y="1782386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Student Record Contains: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Year of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Resume (PDF/Text)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Areas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Vector (generated using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0608" y="1782386"/>
            <a:ext cx="492369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Senior Student (Alumni) Record Contains: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Alumni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Company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 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Years of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Graduation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Referral Availability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Contact Preference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Vector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44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7023" y="599862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Job Description Record Contains: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 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Preferred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 Job Description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Vector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323" y="396957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STUDIES_IN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WORKS_AT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HAS_SKILL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APPLIED_FOR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REFERRED_BY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CONNECTED_TO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28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27512" y="838200"/>
            <a:ext cx="6036788" cy="57054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algn="just">
              <a:lnSpc>
                <a:spcPct val="150000"/>
              </a:lnSpc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secure login for students and senior students.</a:t>
            </a:r>
          </a:p>
          <a:p>
            <a:pPr algn="just">
              <a:lnSpc>
                <a:spcPct val="150000"/>
              </a:lnSpc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Resume upload and AI-based skill gap analysis using RAG.</a:t>
            </a:r>
          </a:p>
          <a:p>
            <a:pPr algn="just">
              <a:lnSpc>
                <a:spcPct val="150000"/>
              </a:lnSpc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job search using vector </a:t>
            </a:r>
            <a:r>
              <a:rPr lang="en-IN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Referral request and approval system.</a:t>
            </a:r>
          </a:p>
          <a:p>
            <a:pPr algn="just">
              <a:lnSpc>
                <a:spcPct val="150000"/>
              </a:lnSpc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 for referral status updates.</a:t>
            </a:r>
          </a:p>
          <a:p>
            <a:pPr algn="just">
              <a:lnSpc>
                <a:spcPct val="150000"/>
              </a:lnSpc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graph for network-based referral recommendations.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96100" y="838200"/>
            <a:ext cx="4648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Requirements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using React or Next.js.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using Node.js and Express.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with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pgvector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API for AI processing.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Socket.io or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updates.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27412" y="184150"/>
            <a:ext cx="5337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REQUIREMENTS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4418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838199" y="1184275"/>
            <a:ext cx="10760243" cy="57778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AI-Based Referral &amp; Resume Analysis System</a:t>
            </a:r>
          </a:p>
          <a:p>
            <a:pPr marL="0" indent="0">
              <a:buNone/>
            </a:pPr>
            <a:endParaRPr lang="en-US" alt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resume (PDF/Text)</a:t>
            </a:r>
          </a:p>
          <a:p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 description</a:t>
            </a:r>
          </a:p>
          <a:p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 data</a:t>
            </a:r>
          </a:p>
          <a:p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Senior student (alumni) data</a:t>
            </a:r>
          </a:p>
          <a:p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search query (optional)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1"/>
          <p:cNvSpPr txBox="1"/>
          <p:nvPr/>
        </p:nvSpPr>
        <p:spPr>
          <a:xfrm>
            <a:off x="3248660" y="202565"/>
            <a:ext cx="10330815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Methodology and Algorithms involved</a:t>
            </a:r>
            <a:endParaRPr lang="en-I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5438" y="2294793"/>
            <a:ext cx="39741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analysis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 matching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senior students for referral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referral status updates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41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25413" y="259140"/>
            <a:ext cx="7596555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Initialize System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 backend services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to PostgreSQL database 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Database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 using API Key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2: Resume Processing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Accept resume upload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text from resume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embedding vector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 embedding in 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pgvector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  <a:p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3: Job Processing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job description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job embedding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 job embedding</a:t>
            </a:r>
          </a:p>
          <a:p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4: Skill Gap Analysis (RAG)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relevant job content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resume and job 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missing skills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AI-based explanation</a:t>
            </a:r>
          </a:p>
          <a:p>
            <a:pPr lvl="1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personalized feedback</a:t>
            </a:r>
          </a:p>
          <a:p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78062" y="259140"/>
            <a:ext cx="6096000" cy="427809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Semantic Search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user search query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query into embedding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similarity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search+Return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ranked job results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Referral Recommendation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knowledge graph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matching senior students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based on skill and role similarity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referral suggestions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Referral Workflow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sends referral request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referral status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Notify users in real time</a:t>
            </a:r>
          </a:p>
        </p:txBody>
      </p:sp>
    </p:spTree>
    <p:extLst>
      <p:ext uri="{BB962C8B-B14F-4D97-AF65-F5344CB8AC3E}">
        <p14:creationId xmlns:p14="http://schemas.microsoft.com/office/powerpoint/2010/main" val="280728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1262" y="523055"/>
            <a:ext cx="11197391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1: Hybrid BM25 + Dense Retrieval with Reciprocal Rank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career query q, BM25 index B over career knowledge corpus D,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Chroma DB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collection C with all-MiniLM-L6-v2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embedding's,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constant k = 60, top-k = 8 per retriever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Grounded context passages G = {p1, p2, p3, p4} passed to LLM for response synthesis.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Tokenise query q and run BM25 sparse retrieval over corpus D computing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BM25(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d,q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IDF(t)·[f(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t,d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)·(k1+1)] / [f(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t,d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k1·(1−b+b·|d|/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avgdl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k1 = 1.5, b = 0.75. Select top-8 results as L_BM25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 query q into 384-dimensional vector q⃗ using all-MiniLM-L6-v2 and query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collection C via cosine similarity against all stored document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Select top-8 results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L_Dense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L_BM25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L_Dense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Reciprocal Rank Fusion: for each document d compute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RRF_score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= 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Σ_{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∈ {BM25, Dense}} 1/(k +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rank_r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k = 60. Documents appearing in both lists receive additive scores from both rankers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all documents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RRF_score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descending, select top-4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{p1, p2, p3, p4},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prepend to LLM prompt with grounding constraint "Answer ONLY from the provided context," and return G for LLM synthesis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Usage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Project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Powers the RAG career knowledge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interview question semantic retrieval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77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3728" y="232611"/>
            <a:ext cx="11245516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Semantic Skill Gap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 structured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inference, JSON schema</a:t>
            </a: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ID u, job ID j, student skills array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profiles table, job required skills array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S_j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job_postings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table, role title R, company C, LLM model M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Skill gap report O =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overall_score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matched_skills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missing_skills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extra_skills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summary,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ready_to_apply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skill array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[s₁, s₂, ..., sₚ] 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profiles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skill array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S_j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[j₁, j₂, ...,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job_postings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  <a:p>
            <a:pPr marL="342900" indent="-342900">
              <a:buFont typeface="+mj-lt"/>
              <a:buAutoNum type="arabicPeriod"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R and company name C as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output schema enforcing type-safe structured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  <a:p>
            <a:pPr marL="342900" indent="-342900">
              <a:buFont typeface="+mj-lt"/>
              <a:buAutoNum type="arabicPeriod"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performs cross-skill semantic comparison using its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technology relationships represents the semantic relatedness between student skill sᵢ and job skill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jⱼ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Usage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Rendered on the job detail page via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SkillGapAnalyser.tsx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circular score indicator uses a three-class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threshold — green (≥75), amber (50–74), red (&lt;50).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ready_to_apply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flag acts as a hard gate on the Request Referral button, enforcing minimum compatibility before allowing cold outreach.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394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7725" y="548171"/>
            <a:ext cx="11149263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Referral Acceptance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using Binary Logistic Regression</a:t>
            </a: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vector x =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skill_overlap_score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alumni_response_rate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seniority_gap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alumni_days_since_active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student_profile_completeness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message_length_chars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message_attempt_number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job_seniority_level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same_team_as_job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pre-trained weight vector w, bias = −1.2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P = {probability,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prediction_label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score_percent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confidence_label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models the log-odds of a binary outcome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 accept (Y=1) versus reject/ignore (Y=0) — as a linear function of input features.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 x = [x₁, x₂, ..., x₉] and weight vector w = [w₁, w₂, ..., w₉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based on the features like skill score, alumni response rate etc.,</a:t>
            </a:r>
          </a:p>
          <a:p>
            <a:pPr marL="342900" indent="-342900">
              <a:buFont typeface="+mj-lt"/>
              <a:buAutoNum type="arabicPeriod"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all alumni cards sort by P(accept) descending.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in Project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Displayed on every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AlumniCard.tsx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 on the job detail page. The computation runs entirely in the Node.js process in under 10 milliseconds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913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720358"/>
            <a:ext cx="54102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4: AI Candidate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Shortlisting using LLM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based  holistic evaluation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 of pending referral IDs [r1..rn], student profile SP, job requirements JR, referral message text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M_text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LLM model 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Assessment array A = [{score, verdict, strengths[], weaknesses[], recommendation,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message_quality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 for all n candidates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Usage in Project 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LLM evaluates four dimensions simultaneously — technical fit (skill overlap and seniority match), communication quality (message specificity,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clear ask), experiential fit (project relevance, role alignment), and initiative signal (profile completeness, message effort).</a:t>
            </a:r>
          </a:p>
        </p:txBody>
      </p:sp>
      <p:sp>
        <p:nvSpPr>
          <p:cNvPr id="3" name="Rectangle 2"/>
          <p:cNvSpPr/>
          <p:nvPr/>
        </p:nvSpPr>
        <p:spPr>
          <a:xfrm>
            <a:off x="5913120" y="581859"/>
            <a:ext cx="562356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5: Message Quality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Scoring using LLM 	       based multi text evaluation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Draft message text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Job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JC = {title, company,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required_skills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[], Alumni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AC = {name, role,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team}, Rubric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 for each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dimension, JSON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schema enforcing five integer scores in [0,10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score computation: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mean(d₁, d₂, d₃, d₄, d₅) ×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readiness decision: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ready_to_send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60) ? true : false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in Project 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MessageQualityChecker.tsx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 on the job detail page renders five horizontal progress bars, the overall score circle, a natural-language verdict, an amber-bordered improvement tips panel, and a green "Ready to Send" or red "Needs Improvement" badge.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902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80326" y="161136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160" y="717232"/>
            <a:ext cx="6781799" cy="572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59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451" y="307704"/>
            <a:ext cx="31165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Results obtained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8" y="1835591"/>
            <a:ext cx="4075171" cy="33095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010" y="1835591"/>
            <a:ext cx="8244840" cy="349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7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45" y="981079"/>
            <a:ext cx="10626117" cy="482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5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67" y="428263"/>
            <a:ext cx="5776118" cy="60887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690" y="1805650"/>
            <a:ext cx="5852316" cy="380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9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90" y="296092"/>
            <a:ext cx="9248172" cy="57877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2405" y="6250329"/>
            <a:ext cx="4629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DB Schema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377" y="2166143"/>
            <a:ext cx="2753109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4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4096" y="628456"/>
            <a:ext cx="18568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467" y="671519"/>
            <a:ext cx="6420746" cy="2343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9011" y="3078619"/>
            <a:ext cx="312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RAGAS ANALYSIS</a:t>
            </a:r>
            <a:endParaRPr lang="en-IN" dirty="0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85011" y="3590234"/>
            <a:ext cx="1140593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setup: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hybrid RAG-CKB pipeline was tested using 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RAGAS framework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120 queries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evenly distributed across five career advisory categories.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metrics: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was measured using five key dimensions—Faithfulness, Answer Relevancy, Context Precision, Context Recall, and Answer Correctness—each targeting different types of potential errors.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reliability: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These metrics are particularly important because incorrect outputs could negatively impact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high-stakes career decisions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made by students.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overall performance: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macro-average results show consistently high scores across all dimensions, indicating robust system behavior.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metric: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Faithfulness (0.891)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the highest score, demonstrating that the combination of system prompt constraints and hybrid retrieval effectively grounds responses in trustworthy knowledge. </a:t>
            </a:r>
          </a:p>
        </p:txBody>
      </p:sp>
    </p:spTree>
    <p:extLst>
      <p:ext uri="{BB962C8B-B14F-4D97-AF65-F5344CB8AC3E}">
        <p14:creationId xmlns:p14="http://schemas.microsoft.com/office/powerpoint/2010/main" val="424754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635" y="396381"/>
            <a:ext cx="6392167" cy="2191056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52877" y="3169236"/>
            <a:ext cx="1074821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grounding and accuracy: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achieves its highest score in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Faithfulness (0.891)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responses are well-grounded in reliable career knowledge sources with minimal hallucination.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relevance of answers: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Answer Relevancy (0.874)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indicates that retrieved information closely matches user queries, enabling the model to respond effectively to student questions.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 is the main limitation: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 Recall (0.842)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the lowest metric, suggesting gaps in handling edge-case queries—especially those requiring interpretation (e.g., vague salary-related questions).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performance on structured queries: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Referral strategy queries score highest (0.907)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due to their clear, action-oriented nature and strong alignment with the knowledge base.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effectiveness: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hybrid RAG-CKB pipeline achieves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 RAGAS of 0.865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outperforming BM25 by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38.2%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dense retrieval by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8.8%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proving the value of combining multiple retrieval methods.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876" y="2693670"/>
            <a:ext cx="4652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Performance of RAG pipeline vs. baseline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19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9962" y="4422883"/>
            <a:ext cx="105672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altLang="en-US" dirty="0" smtClean="0"/>
              <a:t>This graph </a:t>
            </a:r>
            <a:r>
              <a:rPr lang="en-US" altLang="en-US" dirty="0" smtClean="0"/>
              <a:t>visually </a:t>
            </a:r>
            <a:r>
              <a:rPr lang="en-US" altLang="en-US" dirty="0"/>
              <a:t>compares key metrics (Faithfulness, Answer Relevancy, Context Precision) across different system variants</a:t>
            </a:r>
            <a:r>
              <a:rPr lang="en-US" alt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 smtClean="0"/>
              <a:t> </a:t>
            </a:r>
            <a:r>
              <a:rPr lang="en-US" altLang="en-US" dirty="0"/>
              <a:t>A clear upward trend is observed from baseline to full pipeline. This confirms that each added module contributes to overall system reliability and answer quality.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807" y="3904617"/>
            <a:ext cx="1971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/>
              <a:t>Ablation </a:t>
            </a:r>
            <a:r>
              <a:rPr lang="en-US" altLang="en-US" dirty="0"/>
              <a:t>Bar Graph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999" y="211844"/>
            <a:ext cx="6324857" cy="369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144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51" y="1007659"/>
            <a:ext cx="7756919" cy="18147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51" y="3128917"/>
            <a:ext cx="8717617" cy="16238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51" y="5059321"/>
            <a:ext cx="8773749" cy="14670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6902" y="300394"/>
            <a:ext cx="13837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DB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426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38200" y="211292"/>
            <a:ext cx="10183761" cy="109004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7109" y="1224951"/>
            <a:ext cx="110878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V.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Zadykian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B. Andrade and H.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Afli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"Towards Explainable Job Title Matching: Leveraging Semantic Textual Relatedness and Knowledge Graphs,"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arXiv:2509.09522, 2025.</a:t>
            </a:r>
          </a:p>
          <a:p>
            <a:endParaRPr lang="en-US" alt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L. Nguyen, E.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Barcelos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R. French and Y. Wu, "KROMA: Ontology Matching with Knowledge Retrieval and Large Language Models,"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arXiv:2507.14032, 2025.</a:t>
            </a:r>
          </a:p>
          <a:p>
            <a:endParaRPr lang="en-US" alt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L.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Lefton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"A Socratic RAG Approach to Connect Natural Language Queries with Knowledge Organization Systems,"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arXiv:2502.15005, 2025.</a:t>
            </a:r>
          </a:p>
          <a:p>
            <a:endParaRPr lang="en-US" alt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O.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Walid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M. T.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Younes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K.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Shaban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"MSLEF: Multi-Segment LLM Ensemble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Finetuning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Recruitment,"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arXiv:2509.06200, 2025.</a:t>
            </a:r>
          </a:p>
          <a:p>
            <a:endParaRPr lang="en-US" alt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S. Wang, H. Yang and W. Liu, "Research on the Construction and Application of Retrieval Enhanced Generation Model Based on Knowledge Graph," Scientific Reports, vol. 15, 2025.</a:t>
            </a:r>
          </a:p>
          <a:p>
            <a:endParaRPr lang="en-US" alt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[6] A. Afzal, I.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Subedi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F.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Matthes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"Candidate Profile Summarization: A RAG Approach with Synthetic Data Generation for Tech Jobs," in Proceedings of RANLP 2025, 2025.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33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1880" y="2743200"/>
            <a:ext cx="6080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0973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4*381"/>
  <p:tag name="TABLE_ENDDRAG_RECT" val="55*99*894*3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17*345"/>
  <p:tag name="TABLE_ENDDRAG_RECT" val="32*84*917*34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2511</Words>
  <Application>Microsoft Office PowerPoint</Application>
  <PresentationFormat>Widescreen</PresentationFormat>
  <Paragraphs>342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SimSun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52</cp:revision>
  <dcterms:created xsi:type="dcterms:W3CDTF">2026-02-28T03:30:22Z</dcterms:created>
  <dcterms:modified xsi:type="dcterms:W3CDTF">2026-04-20T08:21:55Z</dcterms:modified>
</cp:coreProperties>
</file>